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docProps/app.xml" ContentType="application/vnd.openxmlformats-officedocument.extended-propertie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4 p15">
  <p:sldMasterIdLst>
    <p:sldMasterId id="2147483648" r:id="rId0"/>
  </p:sldMasterIdLst>
  <p:notesMasterIdLst>
    <p:notesMasterId r:id="rId4"/>
  </p:notesMasterIdLst>
  <p:sldIdLst>
    <p:sldId id="256" r:id="rId1"/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默认节" id="{359787CC-B35A-4F0F-9CBB-7B9513FA4752}">
          <p14:sldIdLst/>
        </p14:section>
        <p14:section name="无标题节" id="{9D2328D2-EEC4-4E62-A9A1-0B58FEA0A2B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>
        <p15:guide id="1" orient="horz" pos="2160" userDrawn="true">
          <p15:clr>
            <a:srgbClr val="5ACBF0"/>
          </p15:clr>
        </p15:guide>
        <p15:guide id="2" pos="3817" userDrawn="true">
          <p15:clr>
            <a:srgbClr val="5ACBF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>
  <p:clrMru>
    <a:srgbClr val="C41108"/>
    <a:srgbClr val="AB181E"/>
    <a:srgbClr val="D81E27"/>
    <a:srgbClr val="F5F5F5"/>
    <a:srgbClr val="981317"/>
    <a:srgbClr val="6451FD"/>
    <a:srgbClr val="A178FE"/>
    <a:srgbClr val="A177FE"/>
    <a:srgbClr val="E6E6E6"/>
  </p:clrMru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7896" autoAdjust="false"/>
    <p:restoredTop sz="94660"/>
  </p:normalViewPr>
  <p:slideViewPr>
    <p:cSldViewPr snapToGrid="false" showGuides="true">
      <p:cViewPr varScale="true">
        <p:scale>
          <a:sx n="89" d="100"/>
          <a:sy n="89" d="100"/>
        </p:scale>
        <p:origin x="76" y="24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viewProps" Target="viewProps.xml" /><Relationship Id="rId6" Type="http://schemas.openxmlformats.org/officeDocument/2006/relationships/tableStyles" Target="tableStyle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5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CCD7375B-645A-4B83-93EC-8A3A766EDBB5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DEBF8934-6CED-46F5-B7D3-6CA103631274}" type="slidenum">
              <a:rPr lang="zh-CN" altLang="en-US" smtClean="false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14="http://schemas.microsoft.com/office/powerpoint/2010/main" xmlns:p="http://schemas.openxmlformats.org/presentationml/2006/main" xmlns:a="http://schemas.openxmlformats.org/drawingml/2006/main" xmlns:mc="http://schemas.openxmlformats.org/markup-compatibility/2006" type="blank" mc:Ignorable="p14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83E8761-A14E-4E6E-B19C-D0ABAA7747FF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03410F0F-E077-475B-A7EC-03CDC27F5B89}" type="slidenum">
              <a:rPr lang="zh-CN" altLang="en-US" smtClean="false"/>
              <a:t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slow" advTm="5000" p14:dur="900">
        <p14:warp dir="in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83E8761-A14E-4E6E-B19C-D0ABAA7747FF}" type="datetimeFigureOut">
              <a:rPr lang="zh-CN" altLang="en-US" smtClean="false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03410F0F-E077-475B-A7EC-03CDC27F5B89}" type="slidenum">
              <a:rPr lang="zh-CN" altLang="en-US" smtClean="false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mc:AlternateContent xmlns:mc="http://schemas.openxmlformats.org/markup-compatibility/2006">
    <mc:Choice Requires="p14">
      <p:transition spd="slow" advTm="5000" p14:dur="900">
        <p14:warp dir="in"/>
      </p:transition>
    </mc:Choice>
    <mc:Fallback>
      <p:transition spd="slow">
        <p:fade/>
      </p:transition>
    </mc:Fallback>
  </mc:AlternateContent>
  <p:txStyles>
    <p:titleStyle>
      <a:lvl1pPr algn="l" defTabSz="914400" rtl="false" eaLnBrk="true" latinLnBrk="false" hangingPunct="true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false" eaLnBrk="true" latinLnBrk="false" hangingPunct="true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jp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4" Type="http://schemas.openxmlformats.org/officeDocument/2006/relationships/image" Target="media/image6.png" /><Relationship Id="rId3" Type="http://schemas.openxmlformats.org/officeDocument/2006/relationships/image" Target="media/image5.jpg" /><Relationship Id="rId2" Type="http://schemas.openxmlformats.org/officeDocument/2006/relationships/image" Target="media/image4.jpg" /><Relationship Id="rId5" Type="http://schemas.openxmlformats.org/officeDocument/2006/relationships/image" Target="media/image7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media/image13.png" /><Relationship Id="rId3" Type="http://schemas.openxmlformats.org/officeDocument/2006/relationships/image" Target="media/image10.png" /><Relationship Id="rId4" Type="http://schemas.openxmlformats.org/officeDocument/2006/relationships/image" Target="media/image11.png" /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9.png" /><Relationship Id="rId5" Type="http://schemas.openxmlformats.org/officeDocument/2006/relationships/image" Target="media/image12.jpg" /></Relationships>
</file>

<file path=ppt/slides/slide1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矩形 1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dpi="0" rotWithShape="true">
              <a:blip r:embed="rId1" cstate="screen"/>
              <a:srcRect/>
              <a:stretch>
                <a:fillRect/>
              </a:stretch>
            </a:blipFill>
            <a:ln w="0" cap="flat" cmpd="sng" algn="ctr">
              <a:solidFill>
                <a:schemeClr val="accent1">
                  <a:shade val="1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false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任意多边形: 形状 13"/>
          <p:cNvSpPr/>
          <p:nvPr/>
        </p:nvSpPr>
        <p:spPr>
          <a:xfrm flipH="true">
            <a:off x="0" y="0"/>
            <a:ext cx="7112000" cy="4485269"/>
          </a:xfrm>
          <a:custGeom>
            <a:avLst/>
            <a:gdLst>
              <a:gd name="connsiteX0" fmla="*/ 0 w 7860317"/>
              <a:gd name="connsiteY0" fmla="*/ 0 h 4957204"/>
              <a:gd name="connsiteX1" fmla="*/ 7860317 w 7860317"/>
              <a:gd name="connsiteY1" fmla="*/ 0 h 4957204"/>
              <a:gd name="connsiteX2" fmla="*/ 7860317 w 7860317"/>
              <a:gd name="connsiteY2" fmla="*/ 4635559 h 4957204"/>
              <a:gd name="connsiteX3" fmla="*/ 7601040 w 7860317"/>
              <a:gd name="connsiteY3" fmla="*/ 4718840 h 4957204"/>
              <a:gd name="connsiteX4" fmla="*/ 5919137 w 7860317"/>
              <a:gd name="connsiteY4" fmla="*/ 4957204 h 4957204"/>
              <a:gd name="connsiteX5" fmla="*/ 27790 w 7860317"/>
              <a:gd name="connsiteY5" fmla="*/ 155617 h 495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0317" h="4957204">
                <a:moveTo>
                  <a:pt x="0" y="0"/>
                </a:moveTo>
                <a:lnTo>
                  <a:pt x="7860317" y="0"/>
                </a:lnTo>
                <a:lnTo>
                  <a:pt x="7860317" y="4635559"/>
                </a:lnTo>
                <a:lnTo>
                  <a:pt x="7601040" y="4718840"/>
                </a:lnTo>
                <a:cubicBezTo>
                  <a:pt x="7067308" y="4874014"/>
                  <a:pt x="6502938" y="4957204"/>
                  <a:pt x="5919137" y="4957204"/>
                </a:cubicBezTo>
                <a:cubicBezTo>
                  <a:pt x="3013109" y="4957204"/>
                  <a:pt x="588529" y="2895878"/>
                  <a:pt x="27790" y="155617"/>
                </a:cubicBezTo>
                <a:close/>
              </a:path>
            </a:pathLst>
          </a:custGeom>
          <a:blipFill dpi="0" rotWithShape="true">
            <a:blip r:embed="rId2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8"/>
          <p:cNvSpPr/>
          <p:nvPr/>
        </p:nvSpPr>
        <p:spPr>
          <a:xfrm flipH="true">
            <a:off x="-1" y="1"/>
            <a:ext cx="7111998" cy="3682999"/>
          </a:xfrm>
          <a:custGeom>
            <a:avLst/>
            <a:gdLst>
              <a:gd name="connsiteX0" fmla="*/ 0 w 7860317"/>
              <a:gd name="connsiteY0" fmla="*/ 0 h 4957204"/>
              <a:gd name="connsiteX1" fmla="*/ 7860317 w 7860317"/>
              <a:gd name="connsiteY1" fmla="*/ 0 h 4957204"/>
              <a:gd name="connsiteX2" fmla="*/ 7860317 w 7860317"/>
              <a:gd name="connsiteY2" fmla="*/ 4635559 h 4957204"/>
              <a:gd name="connsiteX3" fmla="*/ 7601040 w 7860317"/>
              <a:gd name="connsiteY3" fmla="*/ 4718840 h 4957204"/>
              <a:gd name="connsiteX4" fmla="*/ 5919137 w 7860317"/>
              <a:gd name="connsiteY4" fmla="*/ 4957204 h 4957204"/>
              <a:gd name="connsiteX5" fmla="*/ 27790 w 7860317"/>
              <a:gd name="connsiteY5" fmla="*/ 155617 h 495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60317" h="4957204">
                <a:moveTo>
                  <a:pt x="0" y="0"/>
                </a:moveTo>
                <a:lnTo>
                  <a:pt x="7860317" y="0"/>
                </a:lnTo>
                <a:lnTo>
                  <a:pt x="7860317" y="4635559"/>
                </a:lnTo>
                <a:lnTo>
                  <a:pt x="7601040" y="4718840"/>
                </a:lnTo>
                <a:cubicBezTo>
                  <a:pt x="7067308" y="4874014"/>
                  <a:pt x="6502938" y="4957204"/>
                  <a:pt x="5919137" y="4957204"/>
                </a:cubicBezTo>
                <a:cubicBezTo>
                  <a:pt x="3013109" y="4957204"/>
                  <a:pt x="588529" y="2895878"/>
                  <a:pt x="27790" y="155617"/>
                </a:cubicBezTo>
                <a:close/>
              </a:path>
            </a:pathLst>
          </a:custGeom>
          <a:gradFill flip="none" rotWithShape="true">
            <a:gsLst>
              <a:gs pos="0">
                <a:srgbClr val="AB181E">
                  <a:alpha val="52000"/>
                </a:srgbClr>
              </a:gs>
              <a:gs pos="100000">
                <a:srgbClr val="AB181E">
                  <a:alpha val="0"/>
                </a:srgbClr>
              </a:gs>
            </a:gsLst>
            <a:lin ang="5400000" scaled="true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7" name="组合 7"/>
          <p:cNvGrpSpPr/>
          <p:nvPr/>
        </p:nvGrpSpPr>
        <p:grpSpPr>
          <a:xfrm>
            <a:off x="-265471" y="-870076"/>
            <a:ext cx="12722942" cy="8598152"/>
            <a:chOff x="-5715000" y="-6019800"/>
            <a:chExt cx="25031700" cy="16916400"/>
          </a:xfrm>
        </p:grpSpPr>
        <p:grpSp>
          <p:nvGrpSpPr>
            <p:cNvPr id="8" name="组合 3"/>
            <p:cNvGrpSpPr/>
            <p:nvPr/>
          </p:nvGrpSpPr>
          <p:grpSpPr>
            <a:xfrm>
              <a:off x="-57150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9" name="椭圆 1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2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4"/>
            <p:cNvGrpSpPr/>
            <p:nvPr/>
          </p:nvGrpSpPr>
          <p:grpSpPr>
            <a:xfrm>
              <a:off x="188976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12" name="椭圆 5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6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4" name="组合 52"/>
          <p:cNvGrpSpPr/>
          <p:nvPr/>
        </p:nvGrpSpPr>
        <p:grpSpPr>
          <a:xfrm rot="5400000" flipH="true">
            <a:off x="-353072" y="5883922"/>
            <a:ext cx="1397000" cy="690856"/>
            <a:chOff x="-97791" y="5890799"/>
            <a:chExt cx="1955800" cy="967199"/>
          </a:xfrm>
        </p:grpSpPr>
        <p:sp>
          <p:nvSpPr>
            <p:cNvPr id="15" name="任意多边形: 形状 30"/>
            <p:cNvSpPr/>
            <p:nvPr/>
          </p:nvSpPr>
          <p:spPr>
            <a:xfrm flipH="true" flipV="true">
              <a:off x="-97791" y="5890799"/>
              <a:ext cx="1955800" cy="967199"/>
            </a:xfrm>
            <a:custGeom>
              <a:avLst/>
              <a:gdLst>
                <a:gd name="connsiteX0" fmla="*/ 8438049 w 8438049"/>
                <a:gd name="connsiteY0" fmla="*/ 0 h 4172857"/>
                <a:gd name="connsiteX1" fmla="*/ 0 w 8438049"/>
                <a:gd name="connsiteY1" fmla="*/ 0 h 4172857"/>
                <a:gd name="connsiteX2" fmla="*/ 125767 w 8438049"/>
                <a:gd name="connsiteY2" fmla="*/ 364343 h 4172857"/>
                <a:gd name="connsiteX3" fmla="*/ 5722169 w 8438049"/>
                <a:gd name="connsiteY3" fmla="*/ 4172857 h 4172857"/>
                <a:gd name="connsiteX4" fmla="*/ 8329279 w 8438049"/>
                <a:gd name="connsiteY4" fmla="*/ 3579859 h 4172857"/>
                <a:gd name="connsiteX5" fmla="*/ 8438049 w 8438049"/>
                <a:gd name="connsiteY5" fmla="*/ 3522476 h 417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049" h="4172857">
                  <a:moveTo>
                    <a:pt x="8438049" y="0"/>
                  </a:moveTo>
                  <a:lnTo>
                    <a:pt x="0" y="0"/>
                  </a:lnTo>
                  <a:lnTo>
                    <a:pt x="125767" y="364343"/>
                  </a:lnTo>
                  <a:cubicBezTo>
                    <a:pt x="1005229" y="2594655"/>
                    <a:pt x="3179395" y="4172857"/>
                    <a:pt x="5722169" y="4172857"/>
                  </a:cubicBezTo>
                  <a:cubicBezTo>
                    <a:pt x="6656250" y="4172857"/>
                    <a:pt x="7540589" y="3959889"/>
                    <a:pt x="8329279" y="3579859"/>
                  </a:cubicBezTo>
                  <a:lnTo>
                    <a:pt x="8438049" y="3522476"/>
                  </a:lnTo>
                  <a:close/>
                </a:path>
              </a:pathLst>
            </a:custGeom>
            <a:solidFill>
              <a:srgbClr val="F5F5F5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27"/>
            <p:cNvSpPr/>
            <p:nvPr/>
          </p:nvSpPr>
          <p:spPr>
            <a:xfrm flipH="true" flipV="true">
              <a:off x="-1" y="6012315"/>
              <a:ext cx="1188027" cy="845683"/>
            </a:xfrm>
            <a:custGeom>
              <a:avLst/>
              <a:gdLst>
                <a:gd name="connsiteX0" fmla="*/ 1052473 w 1238250"/>
                <a:gd name="connsiteY0" fmla="*/ 881434 h 881434"/>
                <a:gd name="connsiteX1" fmla="*/ 4941 w 1238250"/>
                <a:gd name="connsiteY1" fmla="*/ 27670 h 881434"/>
                <a:gd name="connsiteX2" fmla="*/ 0 w 1238250"/>
                <a:gd name="connsiteY2" fmla="*/ 0 h 881434"/>
                <a:gd name="connsiteX3" fmla="*/ 1238250 w 1238250"/>
                <a:gd name="connsiteY3" fmla="*/ 0 h 881434"/>
                <a:gd name="connsiteX4" fmla="*/ 1238250 w 1238250"/>
                <a:gd name="connsiteY4" fmla="*/ 863827 h 881434"/>
                <a:gd name="connsiteX5" fmla="*/ 1215311 w 1238250"/>
                <a:gd name="connsiteY5" fmla="*/ 869114 h 881434"/>
                <a:gd name="connsiteX6" fmla="*/ 1052473 w 1238250"/>
                <a:gd name="connsiteY6" fmla="*/ 881434 h 88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0" h="881434">
                  <a:moveTo>
                    <a:pt x="1052473" y="881434"/>
                  </a:moveTo>
                  <a:cubicBezTo>
                    <a:pt x="535757" y="881434"/>
                    <a:pt x="104645" y="514912"/>
                    <a:pt x="4941" y="27670"/>
                  </a:cubicBezTo>
                  <a:lnTo>
                    <a:pt x="0" y="0"/>
                  </a:lnTo>
                  <a:lnTo>
                    <a:pt x="1238250" y="0"/>
                  </a:lnTo>
                  <a:lnTo>
                    <a:pt x="1238250" y="863827"/>
                  </a:lnTo>
                  <a:lnTo>
                    <a:pt x="1215311" y="869114"/>
                  </a:lnTo>
                  <a:cubicBezTo>
                    <a:pt x="1162216" y="877227"/>
                    <a:pt x="1107836" y="881434"/>
                    <a:pt x="1052473" y="881434"/>
                  </a:cubicBezTo>
                  <a:close/>
                </a:path>
              </a:pathLst>
            </a:custGeom>
            <a:solidFill>
              <a:srgbClr val="981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24"/>
          <p:cNvSpPr/>
          <p:nvPr/>
        </p:nvSpPr>
        <p:spPr>
          <a:xfrm>
            <a:off x="241300" y="292100"/>
            <a:ext cx="254000" cy="967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r>
              <a:rPr lang="en-US" altLang="zh-CN" sz="1050" dirty="false">
                <a:solidFill>
                  <a:schemeClr val="tx1">
                    <a:lumMod val="95000"/>
                    <a:lumOff val="5000"/>
                  </a:schemeClr>
                </a:solidFill>
              </a:rPr>
              <a:t>2023</a:t>
            </a:r>
            <a:endParaRPr lang="zh-CN" altLang="en-US" sz="1050" dirty="false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任意多边形: 形状 15"/>
          <p:cNvSpPr/>
          <p:nvPr/>
        </p:nvSpPr>
        <p:spPr>
          <a:xfrm flipV="true">
            <a:off x="10522289" y="5118100"/>
            <a:ext cx="1669710" cy="1739900"/>
          </a:xfrm>
          <a:custGeom>
            <a:avLst/>
            <a:gdLst>
              <a:gd name="connsiteX0" fmla="*/ 5438067 w 5438067"/>
              <a:gd name="connsiteY0" fmla="*/ 5666670 h 5666670"/>
              <a:gd name="connsiteX1" fmla="*/ 5438067 w 5438067"/>
              <a:gd name="connsiteY1" fmla="*/ 0 h 5666670"/>
              <a:gd name="connsiteX2" fmla="*/ 0 w 5438067"/>
              <a:gd name="connsiteY2" fmla="*/ 0 h 5666670"/>
              <a:gd name="connsiteX3" fmla="*/ 37190 w 5438067"/>
              <a:gd name="connsiteY3" fmla="*/ 101463 h 5666670"/>
              <a:gd name="connsiteX4" fmla="*/ 5204734 w 5438067"/>
              <a:gd name="connsiteY4" fmla="*/ 5563748 h 5666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38067" h="5666670">
                <a:moveTo>
                  <a:pt x="5438067" y="5666670"/>
                </a:moveTo>
                <a:lnTo>
                  <a:pt x="5438067" y="0"/>
                </a:lnTo>
                <a:lnTo>
                  <a:pt x="0" y="0"/>
                </a:lnTo>
                <a:lnTo>
                  <a:pt x="37190" y="101463"/>
                </a:lnTo>
                <a:cubicBezTo>
                  <a:pt x="1003007" y="2512714"/>
                  <a:pt x="2861894" y="4469848"/>
                  <a:pt x="5204734" y="55637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42"/>
          <p:cNvSpPr/>
          <p:nvPr/>
        </p:nvSpPr>
        <p:spPr>
          <a:xfrm flipV="true">
            <a:off x="10893324" y="5151962"/>
            <a:ext cx="1298677" cy="1706038"/>
          </a:xfrm>
          <a:custGeom>
            <a:avLst/>
            <a:gdLst>
              <a:gd name="connsiteX0" fmla="*/ 3793105 w 3793105"/>
              <a:gd name="connsiteY0" fmla="*/ 4982904 h 4982904"/>
              <a:gd name="connsiteX1" fmla="*/ 3793105 w 3793105"/>
              <a:gd name="connsiteY1" fmla="*/ 0 h 4982904"/>
              <a:gd name="connsiteX2" fmla="*/ 0 w 3793105"/>
              <a:gd name="connsiteY2" fmla="*/ 0 h 4982904"/>
              <a:gd name="connsiteX3" fmla="*/ 31693 w 3793105"/>
              <a:gd name="connsiteY3" fmla="*/ 177468 h 4982904"/>
              <a:gd name="connsiteX4" fmla="*/ 3495060 w 3793105"/>
              <a:gd name="connsiteY4" fmla="*/ 4832965 h 498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3105" h="4982904">
                <a:moveTo>
                  <a:pt x="3793105" y="4982904"/>
                </a:moveTo>
                <a:lnTo>
                  <a:pt x="3793105" y="0"/>
                </a:lnTo>
                <a:lnTo>
                  <a:pt x="0" y="0"/>
                </a:lnTo>
                <a:lnTo>
                  <a:pt x="31693" y="177468"/>
                </a:lnTo>
                <a:cubicBezTo>
                  <a:pt x="443854" y="2191650"/>
                  <a:pt x="1739014" y="3884186"/>
                  <a:pt x="3495060" y="4832965"/>
                </a:cubicBezTo>
                <a:close/>
              </a:path>
            </a:pathLst>
          </a:custGeom>
          <a:solidFill>
            <a:srgbClr val="AB18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26"/>
          <p:cNvSpPr/>
          <p:nvPr/>
        </p:nvSpPr>
        <p:spPr>
          <a:xfrm rot="16200000">
            <a:off x="11669660" y="6011598"/>
            <a:ext cx="283423" cy="583455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 flip="none" rotWithShape="true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 scaled="tru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 dirty="false">
              <a:solidFill>
                <a:schemeClr val="tx1"/>
              </a:solidFill>
            </a:endParaRPr>
          </a:p>
        </p:txBody>
      </p:sp>
      <p:sp>
        <p:nvSpPr>
          <p:cNvPr id="21" name="任意多边形: 形状 46"/>
          <p:cNvSpPr/>
          <p:nvPr/>
        </p:nvSpPr>
        <p:spPr>
          <a:xfrm>
            <a:off x="11188700" y="-1"/>
            <a:ext cx="1003299" cy="841307"/>
          </a:xfrm>
          <a:custGeom>
            <a:avLst/>
            <a:gdLst>
              <a:gd name="connsiteX0" fmla="*/ 11665 w 2235200"/>
              <a:gd name="connsiteY0" fmla="*/ 0 h 1874304"/>
              <a:gd name="connsiteX1" fmla="*/ 2235200 w 2235200"/>
              <a:gd name="connsiteY1" fmla="*/ 0 h 1874304"/>
              <a:gd name="connsiteX2" fmla="*/ 2235200 w 2235200"/>
              <a:gd name="connsiteY2" fmla="*/ 1779600 h 1874304"/>
              <a:gd name="connsiteX3" fmla="*/ 2183148 w 2235200"/>
              <a:gd name="connsiteY3" fmla="*/ 1798651 h 1874304"/>
              <a:gd name="connsiteX4" fmla="*/ 1682750 w 2235200"/>
              <a:gd name="connsiteY4" fmla="*/ 1874304 h 1874304"/>
              <a:gd name="connsiteX5" fmla="*/ 0 w 2235200"/>
              <a:gd name="connsiteY5" fmla="*/ 191554 h 1874304"/>
              <a:gd name="connsiteX6" fmla="*/ 8688 w 2235200"/>
              <a:gd name="connsiteY6" fmla="*/ 19503 h 187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4304">
                <a:moveTo>
                  <a:pt x="11665" y="0"/>
                </a:moveTo>
                <a:lnTo>
                  <a:pt x="2235200" y="0"/>
                </a:lnTo>
                <a:lnTo>
                  <a:pt x="2235200" y="1779600"/>
                </a:lnTo>
                <a:lnTo>
                  <a:pt x="2183148" y="1798651"/>
                </a:lnTo>
                <a:cubicBezTo>
                  <a:pt x="2025073" y="1847818"/>
                  <a:pt x="1857004" y="1874304"/>
                  <a:pt x="1682750" y="1874304"/>
                </a:cubicBezTo>
                <a:cubicBezTo>
                  <a:pt x="753393" y="1874304"/>
                  <a:pt x="0" y="1120911"/>
                  <a:pt x="0" y="191554"/>
                </a:cubicBezTo>
                <a:cubicBezTo>
                  <a:pt x="0" y="133470"/>
                  <a:pt x="2943" y="76072"/>
                  <a:pt x="8688" y="19503"/>
                </a:cubicBezTo>
                <a:close/>
              </a:path>
            </a:pathLst>
          </a:cu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37"/>
          <p:cNvSpPr txBox="true"/>
          <p:nvPr/>
        </p:nvSpPr>
        <p:spPr>
          <a:xfrm>
            <a:off x="4800600" y="3670727"/>
            <a:ext cx="6604000" cy="1323439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 algn="ctr"/>
            <a:r>
              <a:rPr lang="zh-CN" altLang="en-US" sz="8000" dirty="false">
                <a:ln w="31750" cap="flat" cmpd="sng" algn="ctr">
                  <a:solidFill>
                    <a:schemeClr val="tx1">
                      <a:lumMod val="0"/>
                      <a:lumOff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5400000" rotWithShape="false">
                    <a:schemeClr val="tx1">
                      <a:lumMod val="100000"/>
                      <a:alpha val="2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业务流程</a:t>
            </a:r>
            <a:endParaRPr lang="zh-CN" altLang="en-US" sz="8000" dirty="false">
              <a:ln w="31750" cap="flat" cmpd="sng" algn="ctr">
                <a:solidFill>
                  <a:schemeClr val="tx1">
                    <a:lumMod val="0"/>
                    <a:lumOff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5400000" rotWithShape="false">
                  <a:schemeClr val="tx1">
                    <a:lumMod val="100000"/>
                    <a:alpha val="2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矩形: 圆角 32"/>
          <p:cNvSpPr/>
          <p:nvPr/>
        </p:nvSpPr>
        <p:spPr>
          <a:xfrm>
            <a:off x="6721645" y="2476500"/>
            <a:ext cx="2761910" cy="1035477"/>
          </a:xfrm>
          <a:prstGeom prst="roundRect">
            <a:avLst>
              <a:gd name="adj" fmla="val 50000"/>
            </a:avLst>
          </a:pr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r>
              <a:rPr lang="en-US" altLang="zh-CN" sz="4000" dirty="false"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rPr>
              <a:t>PART</a:t>
            </a:r>
            <a:r>
              <a:rPr lang="en-US" altLang="zh-CN" sz="4000"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rPr>
              <a:t>.02</a:t>
            </a:r>
            <a:endParaRPr lang="zh-CN" altLang="en-US" sz="4000" dirty="false">
              <a:latin typeface="阿里巴巴普惠体 H" panose="00020600040101010101" pitchFamily="18" charset="-122"/>
              <a:ea typeface="阿里巴巴普惠体 H" panose="00020600040101010101" pitchFamily="18" charset="-122"/>
              <a:cs typeface="阿里巴巴普惠体 H" panose="00020600040101010101" pitchFamily="18" charset="-122"/>
            </a:endParaRPr>
          </a:p>
        </p:txBody>
      </p:sp>
      <p:sp>
        <p:nvSpPr>
          <p:cNvPr id="24" name="任意多边形: 形状 34"/>
          <p:cNvSpPr/>
          <p:nvPr/>
        </p:nvSpPr>
        <p:spPr>
          <a:xfrm>
            <a:off x="11385552" y="2089235"/>
            <a:ext cx="406396" cy="836611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 flip="none" rotWithShape="true">
            <a:gsLst>
              <a:gs pos="0">
                <a:srgbClr val="AB181E"/>
              </a:gs>
              <a:gs pos="100000">
                <a:srgbClr val="AB181E">
                  <a:alpha val="0"/>
                </a:srgbClr>
              </a:gs>
            </a:gsLst>
            <a:lin ang="5400000" scaled="tru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 dirty="false">
              <a:solidFill>
                <a:schemeClr val="tx1"/>
              </a:solidFill>
            </a:endParaRPr>
          </a:p>
        </p:txBody>
      </p:sp>
      <p:sp>
        <p:nvSpPr>
          <p:cNvPr id="25" name="任意多边形: 形状 35"/>
          <p:cNvSpPr/>
          <p:nvPr/>
        </p:nvSpPr>
        <p:spPr>
          <a:xfrm rot="16200000" flipV="true">
            <a:off x="2671484" y="5097981"/>
            <a:ext cx="536335" cy="1104104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gradFill flip="none" rotWithShape="true">
            <a:gsLst>
              <a:gs pos="0">
                <a:srgbClr val="AB181E"/>
              </a:gs>
              <a:gs pos="100000">
                <a:srgbClr val="AB181E">
                  <a:alpha val="0"/>
                </a:srgbClr>
              </a:gs>
            </a:gsLst>
            <a:lin ang="5400000" scaled="true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 dirty="false">
              <a:solidFill>
                <a:schemeClr val="tx1"/>
              </a:solidFill>
            </a:endParaRPr>
          </a:p>
        </p:txBody>
      </p:sp>
      <p:sp>
        <p:nvSpPr>
          <p:cNvPr id="26" name="文本框 9"/>
          <p:cNvSpPr txBox="true"/>
          <p:nvPr/>
        </p:nvSpPr>
        <p:spPr>
          <a:xfrm>
            <a:off x="5977271" y="3663315"/>
            <a:ext cx="64380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sz="8000" dirty="false">
                <a:latin typeface="黑体" panose="02010609060101010101" pitchFamily="49" charset="-122"/>
                <a:ea typeface="黑体" panose="02010609060101010101" pitchFamily="49" charset="-122"/>
              </a:rPr>
              <a:t>业务流程</a:t>
            </a:r>
            <a:endParaRPr lang="zh-CN" altLang="en-US" sz="8000" dirty="false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7"/>
          <p:cNvGrpSpPr/>
          <p:nvPr/>
        </p:nvGrpSpPr>
        <p:grpSpPr>
          <a:xfrm>
            <a:off x="-265471" y="-870076"/>
            <a:ext cx="12722942" cy="8598152"/>
            <a:chOff x="-5715000" y="-6019800"/>
            <a:chExt cx="25031700" cy="16916400"/>
          </a:xfrm>
        </p:grpSpPr>
        <p:grpSp>
          <p:nvGrpSpPr>
            <p:cNvPr id="29" name="组合 3"/>
            <p:cNvGrpSpPr/>
            <p:nvPr/>
          </p:nvGrpSpPr>
          <p:grpSpPr>
            <a:xfrm>
              <a:off x="-57150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30" name="椭圆 1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2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4"/>
            <p:cNvGrpSpPr/>
            <p:nvPr/>
          </p:nvGrpSpPr>
          <p:grpSpPr>
            <a:xfrm>
              <a:off x="188976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33" name="椭圆 5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6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5" name="矩形 24"/>
          <p:cNvSpPr/>
          <p:nvPr/>
        </p:nvSpPr>
        <p:spPr>
          <a:xfrm>
            <a:off x="241300" y="5715000"/>
            <a:ext cx="254000" cy="967199"/>
          </a:xfrm>
          <a:prstGeom prst="rect">
            <a:avLst/>
          </a:pr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r>
              <a:rPr lang="en-US" altLang="zh-CN" sz="1050" dirty="false"/>
              <a:t>2024</a:t>
            </a:r>
            <a:endParaRPr lang="zh-CN" altLang="en-US" sz="1050" dirty="false"/>
          </a:p>
        </p:txBody>
      </p:sp>
      <p:grpSp>
        <p:nvGrpSpPr>
          <p:cNvPr id="36" name="组合 52"/>
          <p:cNvGrpSpPr/>
          <p:nvPr/>
        </p:nvGrpSpPr>
        <p:grpSpPr>
          <a:xfrm rot="16200000" flipH="true" flipV="true">
            <a:off x="-353072" y="276872"/>
            <a:ext cx="1397000" cy="690856"/>
            <a:chOff x="-97791" y="5890799"/>
            <a:chExt cx="1955800" cy="967199"/>
          </a:xfrm>
        </p:grpSpPr>
        <p:sp>
          <p:nvSpPr>
            <p:cNvPr id="37" name="任意多边形: 形状 30"/>
            <p:cNvSpPr/>
            <p:nvPr/>
          </p:nvSpPr>
          <p:spPr>
            <a:xfrm flipH="true" flipV="true">
              <a:off x="-97791" y="5890799"/>
              <a:ext cx="1955800" cy="967199"/>
            </a:xfrm>
            <a:custGeom>
              <a:avLst/>
              <a:gdLst>
                <a:gd name="connsiteX0" fmla="*/ 8438049 w 8438049"/>
                <a:gd name="connsiteY0" fmla="*/ 0 h 4172857"/>
                <a:gd name="connsiteX1" fmla="*/ 0 w 8438049"/>
                <a:gd name="connsiteY1" fmla="*/ 0 h 4172857"/>
                <a:gd name="connsiteX2" fmla="*/ 125767 w 8438049"/>
                <a:gd name="connsiteY2" fmla="*/ 364343 h 4172857"/>
                <a:gd name="connsiteX3" fmla="*/ 5722169 w 8438049"/>
                <a:gd name="connsiteY3" fmla="*/ 4172857 h 4172857"/>
                <a:gd name="connsiteX4" fmla="*/ 8329279 w 8438049"/>
                <a:gd name="connsiteY4" fmla="*/ 3579859 h 4172857"/>
                <a:gd name="connsiteX5" fmla="*/ 8438049 w 8438049"/>
                <a:gd name="connsiteY5" fmla="*/ 3522476 h 417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049" h="4172857">
                  <a:moveTo>
                    <a:pt x="8438049" y="0"/>
                  </a:moveTo>
                  <a:lnTo>
                    <a:pt x="0" y="0"/>
                  </a:lnTo>
                  <a:lnTo>
                    <a:pt x="125767" y="364343"/>
                  </a:lnTo>
                  <a:cubicBezTo>
                    <a:pt x="1005229" y="2594655"/>
                    <a:pt x="3179395" y="4172857"/>
                    <a:pt x="5722169" y="4172857"/>
                  </a:cubicBezTo>
                  <a:cubicBezTo>
                    <a:pt x="6656250" y="4172857"/>
                    <a:pt x="7540589" y="3959889"/>
                    <a:pt x="8329279" y="3579859"/>
                  </a:cubicBezTo>
                  <a:lnTo>
                    <a:pt x="8438049" y="3522476"/>
                  </a:lnTo>
                  <a:close/>
                </a:path>
              </a:pathLst>
            </a:custGeom>
            <a:solidFill>
              <a:srgbClr val="F5F5F5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27"/>
            <p:cNvSpPr/>
            <p:nvPr/>
          </p:nvSpPr>
          <p:spPr>
            <a:xfrm flipH="true" flipV="true">
              <a:off x="-1" y="6012315"/>
              <a:ext cx="1188027" cy="845683"/>
            </a:xfrm>
            <a:custGeom>
              <a:avLst/>
              <a:gdLst>
                <a:gd name="connsiteX0" fmla="*/ 1052473 w 1238250"/>
                <a:gd name="connsiteY0" fmla="*/ 881434 h 881434"/>
                <a:gd name="connsiteX1" fmla="*/ 4941 w 1238250"/>
                <a:gd name="connsiteY1" fmla="*/ 27670 h 881434"/>
                <a:gd name="connsiteX2" fmla="*/ 0 w 1238250"/>
                <a:gd name="connsiteY2" fmla="*/ 0 h 881434"/>
                <a:gd name="connsiteX3" fmla="*/ 1238250 w 1238250"/>
                <a:gd name="connsiteY3" fmla="*/ 0 h 881434"/>
                <a:gd name="connsiteX4" fmla="*/ 1238250 w 1238250"/>
                <a:gd name="connsiteY4" fmla="*/ 863827 h 881434"/>
                <a:gd name="connsiteX5" fmla="*/ 1215311 w 1238250"/>
                <a:gd name="connsiteY5" fmla="*/ 869114 h 881434"/>
                <a:gd name="connsiteX6" fmla="*/ 1052473 w 1238250"/>
                <a:gd name="connsiteY6" fmla="*/ 881434 h 88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0" h="881434">
                  <a:moveTo>
                    <a:pt x="1052473" y="881434"/>
                  </a:moveTo>
                  <a:cubicBezTo>
                    <a:pt x="535757" y="881434"/>
                    <a:pt x="104645" y="514912"/>
                    <a:pt x="4941" y="27670"/>
                  </a:cubicBezTo>
                  <a:lnTo>
                    <a:pt x="0" y="0"/>
                  </a:lnTo>
                  <a:lnTo>
                    <a:pt x="1238250" y="0"/>
                  </a:lnTo>
                  <a:lnTo>
                    <a:pt x="1238250" y="863827"/>
                  </a:lnTo>
                  <a:lnTo>
                    <a:pt x="1215311" y="869114"/>
                  </a:lnTo>
                  <a:cubicBezTo>
                    <a:pt x="1162216" y="877227"/>
                    <a:pt x="1107836" y="881434"/>
                    <a:pt x="1052473" y="881434"/>
                  </a:cubicBezTo>
                  <a:close/>
                </a:path>
              </a:pathLst>
            </a:custGeom>
            <a:solidFill>
              <a:srgbClr val="981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9" name="任意多边形: 形状 46"/>
          <p:cNvSpPr/>
          <p:nvPr/>
        </p:nvSpPr>
        <p:spPr>
          <a:xfrm flipV="true">
            <a:off x="11449876" y="6229350"/>
            <a:ext cx="742123" cy="622300"/>
          </a:xfrm>
          <a:custGeom>
            <a:avLst/>
            <a:gdLst>
              <a:gd name="connsiteX0" fmla="*/ 11665 w 2235200"/>
              <a:gd name="connsiteY0" fmla="*/ 0 h 1874304"/>
              <a:gd name="connsiteX1" fmla="*/ 2235200 w 2235200"/>
              <a:gd name="connsiteY1" fmla="*/ 0 h 1874304"/>
              <a:gd name="connsiteX2" fmla="*/ 2235200 w 2235200"/>
              <a:gd name="connsiteY2" fmla="*/ 1779600 h 1874304"/>
              <a:gd name="connsiteX3" fmla="*/ 2183148 w 2235200"/>
              <a:gd name="connsiteY3" fmla="*/ 1798651 h 1874304"/>
              <a:gd name="connsiteX4" fmla="*/ 1682750 w 2235200"/>
              <a:gd name="connsiteY4" fmla="*/ 1874304 h 1874304"/>
              <a:gd name="connsiteX5" fmla="*/ 0 w 2235200"/>
              <a:gd name="connsiteY5" fmla="*/ 191554 h 1874304"/>
              <a:gd name="connsiteX6" fmla="*/ 8688 w 2235200"/>
              <a:gd name="connsiteY6" fmla="*/ 19503 h 187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4304">
                <a:moveTo>
                  <a:pt x="11665" y="0"/>
                </a:moveTo>
                <a:lnTo>
                  <a:pt x="2235200" y="0"/>
                </a:lnTo>
                <a:lnTo>
                  <a:pt x="2235200" y="1779600"/>
                </a:lnTo>
                <a:lnTo>
                  <a:pt x="2183148" y="1798651"/>
                </a:lnTo>
                <a:cubicBezTo>
                  <a:pt x="2025073" y="1847818"/>
                  <a:pt x="1857004" y="1874304"/>
                  <a:pt x="1682750" y="1874304"/>
                </a:cubicBezTo>
                <a:cubicBezTo>
                  <a:pt x="753393" y="1874304"/>
                  <a:pt x="0" y="1120911"/>
                  <a:pt x="0" y="191554"/>
                </a:cubicBezTo>
                <a:cubicBezTo>
                  <a:pt x="0" y="133470"/>
                  <a:pt x="2943" y="76072"/>
                  <a:pt x="8688" y="19503"/>
                </a:cubicBezTo>
                <a:close/>
              </a:path>
            </a:pathLst>
          </a:cu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文本框 9"/>
          <p:cNvSpPr txBox="true"/>
          <p:nvPr/>
        </p:nvSpPr>
        <p:spPr>
          <a:xfrm>
            <a:off x="762000" y="178227"/>
            <a:ext cx="4902994" cy="646331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业务流程</a:t>
            </a:r>
            <a:r>
              <a:rPr lang="en-US" altLang="zh-CN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-</a:t>
            </a:r>
            <a:r>
              <a:rPr lang="zh-CN" altLang="en-US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舒心贷</a:t>
            </a:r>
            <a:endParaRPr lang="zh-CN" altLang="en-US" sz="3600" dirty="false">
              <a:latin typeface="联想小新潮酷体" panose="02010604000000000000" pitchFamily="2" charset="-122"/>
              <a:ea typeface="联想小新潮酷体" panose="02010604000000000000" pitchFamily="2" charset="-122"/>
            </a:endParaRPr>
          </a:p>
        </p:txBody>
      </p:sp>
      <p:sp>
        <p:nvSpPr>
          <p:cNvPr id="41" name="iṡļíḍe"/>
          <p:cNvSpPr/>
          <p:nvPr/>
        </p:nvSpPr>
        <p:spPr>
          <a:xfrm>
            <a:off x="958463" y="1971851"/>
            <a:ext cx="647053" cy="1903715"/>
          </a:xfrm>
          <a:prstGeom prst="roundRect">
            <a:avLst>
              <a:gd name="adj" fmla="val 13693"/>
            </a:avLst>
          </a:prstGeom>
          <a:solidFill>
            <a:srgbClr val="C00000"/>
          </a:solidFill>
          <a:ln>
            <a:noFill/>
          </a:ln>
          <a:effectLst>
            <a:outerShdw blurRad="508000" dist="279400" dir="8100000" algn="tr" rotWithShape="false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zh-CN" altLang="en-US" b="true" dirty="false">
                <a:sym typeface="+mn-lt"/>
              </a:rPr>
              <a:t>授信申请</a:t>
            </a:r>
            <a:endParaRPr lang="zh-CN" altLang="en-US" b="true" dirty="false">
              <a:sym typeface="+mn-lt"/>
            </a:endParaRPr>
          </a:p>
        </p:txBody>
      </p:sp>
      <p:pic>
        <p:nvPicPr>
          <p:cNvPr id="42" name="图片 14"/>
          <p:cNvPicPr>
            <a:picLocks noChangeAspect="true"/>
          </p:cNvPicPr>
          <p:nvPr/>
        </p:nvPicPr>
        <p:blipFill>
          <a:blip r:embed="rId1" cstate="screen">
            <a:extLst>
              <a:ext uri="{28A0092B-C50C-407E-A947-70E740481C1C}"/>
            </a:extLst>
          </a:blip>
          <a:stretch>
            <a:fillRect/>
          </a:stretch>
        </p:blipFill>
        <p:spPr>
          <a:xfrm>
            <a:off x="1971571" y="1280650"/>
            <a:ext cx="1876059" cy="4064794"/>
          </a:xfrm>
          <a:prstGeom prst="rect">
            <a:avLst/>
          </a:prstGeom>
        </p:spPr>
      </p:pic>
      <p:pic>
        <p:nvPicPr>
          <p:cNvPr id="43" name="图片 15"/>
          <p:cNvPicPr/>
          <p:nvPr/>
        </p:nvPicPr>
        <p:blipFill>
          <a:blip r:embed="rId2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3901547" y="1280649"/>
            <a:ext cx="1876058" cy="4064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16"/>
          <p:cNvPicPr/>
          <p:nvPr/>
        </p:nvPicPr>
        <p:blipFill>
          <a:blip r:embed="rId3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5788223" y="1280649"/>
            <a:ext cx="1876058" cy="406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图片 17"/>
          <p:cNvPicPr/>
          <p:nvPr/>
        </p:nvPicPr>
        <p:blipFill>
          <a:blip r:embed="rId4"/>
          <a:stretch>
            <a:fillRect/>
          </a:stretch>
        </p:blipFill>
        <p:spPr>
          <a:xfrm>
            <a:off x="7718198" y="1280649"/>
            <a:ext cx="1876058" cy="4064791"/>
          </a:xfrm>
          <a:prstGeom prst="rect">
            <a:avLst/>
          </a:prstGeom>
        </p:spPr>
      </p:pic>
      <p:pic>
        <p:nvPicPr>
          <p:cNvPr id="46" name="图片 18"/>
          <p:cNvPicPr/>
          <p:nvPr/>
        </p:nvPicPr>
        <p:blipFill>
          <a:blip r:embed="rId5"/>
          <a:stretch>
            <a:fillRect/>
          </a:stretch>
        </p:blipFill>
        <p:spPr>
          <a:xfrm>
            <a:off x="9711228" y="1280650"/>
            <a:ext cx="1951005" cy="4064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p14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7"/>
          <p:cNvGrpSpPr/>
          <p:nvPr/>
        </p:nvGrpSpPr>
        <p:grpSpPr>
          <a:xfrm>
            <a:off x="-265471" y="-870076"/>
            <a:ext cx="12722942" cy="8598152"/>
            <a:chOff x="-5715000" y="-6019800"/>
            <a:chExt cx="25031700" cy="16916400"/>
          </a:xfrm>
        </p:grpSpPr>
        <p:grpSp>
          <p:nvGrpSpPr>
            <p:cNvPr id="49" name="组合 3"/>
            <p:cNvGrpSpPr/>
            <p:nvPr/>
          </p:nvGrpSpPr>
          <p:grpSpPr>
            <a:xfrm>
              <a:off x="-57150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50" name="椭圆 1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椭圆 2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4"/>
            <p:cNvGrpSpPr/>
            <p:nvPr/>
          </p:nvGrpSpPr>
          <p:grpSpPr>
            <a:xfrm>
              <a:off x="18897600" y="-6019800"/>
              <a:ext cx="419100" cy="16916400"/>
              <a:chOff x="-5715000" y="-6019800"/>
              <a:chExt cx="419100" cy="16916400"/>
            </a:xfrm>
          </p:grpSpPr>
          <p:sp>
            <p:nvSpPr>
              <p:cNvPr id="53" name="椭圆 5"/>
              <p:cNvSpPr/>
              <p:nvPr/>
            </p:nvSpPr>
            <p:spPr>
              <a:xfrm>
                <a:off x="-5715000" y="-60198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6"/>
              <p:cNvSpPr/>
              <p:nvPr/>
            </p:nvSpPr>
            <p:spPr>
              <a:xfrm>
                <a:off x="-5715000" y="10477500"/>
                <a:ext cx="419100" cy="419100"/>
              </a:xfrm>
              <a:prstGeom prst="ellipse">
                <a:avLst/>
              </a:prstGeom>
              <a:solidFill>
                <a:srgbClr val="E6E6E6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false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5" name="矩形 24"/>
          <p:cNvSpPr/>
          <p:nvPr/>
        </p:nvSpPr>
        <p:spPr>
          <a:xfrm>
            <a:off x="241300" y="5715000"/>
            <a:ext cx="254000" cy="967199"/>
          </a:xfrm>
          <a:prstGeom prst="rect">
            <a:avLst/>
          </a:pr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r>
              <a:rPr lang="en-US" altLang="zh-CN" sz="1050" dirty="false"/>
              <a:t>2024</a:t>
            </a:r>
            <a:endParaRPr lang="zh-CN" altLang="en-US" sz="1050" dirty="false"/>
          </a:p>
        </p:txBody>
      </p:sp>
      <p:grpSp>
        <p:nvGrpSpPr>
          <p:cNvPr id="56" name="组合 52"/>
          <p:cNvGrpSpPr/>
          <p:nvPr/>
        </p:nvGrpSpPr>
        <p:grpSpPr>
          <a:xfrm rot="16200000" flipH="true" flipV="true">
            <a:off x="-353072" y="276872"/>
            <a:ext cx="1397000" cy="690856"/>
            <a:chOff x="-97791" y="5890799"/>
            <a:chExt cx="1955800" cy="967199"/>
          </a:xfrm>
        </p:grpSpPr>
        <p:sp>
          <p:nvSpPr>
            <p:cNvPr id="57" name="任意多边形: 形状 30"/>
            <p:cNvSpPr/>
            <p:nvPr/>
          </p:nvSpPr>
          <p:spPr>
            <a:xfrm flipH="true" flipV="true">
              <a:off x="-97791" y="5890799"/>
              <a:ext cx="1955800" cy="967199"/>
            </a:xfrm>
            <a:custGeom>
              <a:avLst/>
              <a:gdLst>
                <a:gd name="connsiteX0" fmla="*/ 8438049 w 8438049"/>
                <a:gd name="connsiteY0" fmla="*/ 0 h 4172857"/>
                <a:gd name="connsiteX1" fmla="*/ 0 w 8438049"/>
                <a:gd name="connsiteY1" fmla="*/ 0 h 4172857"/>
                <a:gd name="connsiteX2" fmla="*/ 125767 w 8438049"/>
                <a:gd name="connsiteY2" fmla="*/ 364343 h 4172857"/>
                <a:gd name="connsiteX3" fmla="*/ 5722169 w 8438049"/>
                <a:gd name="connsiteY3" fmla="*/ 4172857 h 4172857"/>
                <a:gd name="connsiteX4" fmla="*/ 8329279 w 8438049"/>
                <a:gd name="connsiteY4" fmla="*/ 3579859 h 4172857"/>
                <a:gd name="connsiteX5" fmla="*/ 8438049 w 8438049"/>
                <a:gd name="connsiteY5" fmla="*/ 3522476 h 417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049" h="4172857">
                  <a:moveTo>
                    <a:pt x="8438049" y="0"/>
                  </a:moveTo>
                  <a:lnTo>
                    <a:pt x="0" y="0"/>
                  </a:lnTo>
                  <a:lnTo>
                    <a:pt x="125767" y="364343"/>
                  </a:lnTo>
                  <a:cubicBezTo>
                    <a:pt x="1005229" y="2594655"/>
                    <a:pt x="3179395" y="4172857"/>
                    <a:pt x="5722169" y="4172857"/>
                  </a:cubicBezTo>
                  <a:cubicBezTo>
                    <a:pt x="6656250" y="4172857"/>
                    <a:pt x="7540589" y="3959889"/>
                    <a:pt x="8329279" y="3579859"/>
                  </a:cubicBezTo>
                  <a:lnTo>
                    <a:pt x="8438049" y="3522476"/>
                  </a:lnTo>
                  <a:close/>
                </a:path>
              </a:pathLst>
            </a:custGeom>
            <a:solidFill>
              <a:srgbClr val="F5F5F5">
                <a:alpha val="5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27"/>
            <p:cNvSpPr/>
            <p:nvPr/>
          </p:nvSpPr>
          <p:spPr>
            <a:xfrm flipH="true" flipV="true">
              <a:off x="-1" y="6012315"/>
              <a:ext cx="1188027" cy="845683"/>
            </a:xfrm>
            <a:custGeom>
              <a:avLst/>
              <a:gdLst>
                <a:gd name="connsiteX0" fmla="*/ 1052473 w 1238250"/>
                <a:gd name="connsiteY0" fmla="*/ 881434 h 881434"/>
                <a:gd name="connsiteX1" fmla="*/ 4941 w 1238250"/>
                <a:gd name="connsiteY1" fmla="*/ 27670 h 881434"/>
                <a:gd name="connsiteX2" fmla="*/ 0 w 1238250"/>
                <a:gd name="connsiteY2" fmla="*/ 0 h 881434"/>
                <a:gd name="connsiteX3" fmla="*/ 1238250 w 1238250"/>
                <a:gd name="connsiteY3" fmla="*/ 0 h 881434"/>
                <a:gd name="connsiteX4" fmla="*/ 1238250 w 1238250"/>
                <a:gd name="connsiteY4" fmla="*/ 863827 h 881434"/>
                <a:gd name="connsiteX5" fmla="*/ 1215311 w 1238250"/>
                <a:gd name="connsiteY5" fmla="*/ 869114 h 881434"/>
                <a:gd name="connsiteX6" fmla="*/ 1052473 w 1238250"/>
                <a:gd name="connsiteY6" fmla="*/ 881434 h 881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250" h="881434">
                  <a:moveTo>
                    <a:pt x="1052473" y="881434"/>
                  </a:moveTo>
                  <a:cubicBezTo>
                    <a:pt x="535757" y="881434"/>
                    <a:pt x="104645" y="514912"/>
                    <a:pt x="4941" y="27670"/>
                  </a:cubicBezTo>
                  <a:lnTo>
                    <a:pt x="0" y="0"/>
                  </a:lnTo>
                  <a:lnTo>
                    <a:pt x="1238250" y="0"/>
                  </a:lnTo>
                  <a:lnTo>
                    <a:pt x="1238250" y="863827"/>
                  </a:lnTo>
                  <a:lnTo>
                    <a:pt x="1215311" y="869114"/>
                  </a:lnTo>
                  <a:cubicBezTo>
                    <a:pt x="1162216" y="877227"/>
                    <a:pt x="1107836" y="881434"/>
                    <a:pt x="1052473" y="881434"/>
                  </a:cubicBezTo>
                  <a:close/>
                </a:path>
              </a:pathLst>
            </a:custGeom>
            <a:solidFill>
              <a:srgbClr val="981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false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59" name="任意多边形: 形状 46"/>
          <p:cNvSpPr/>
          <p:nvPr/>
        </p:nvSpPr>
        <p:spPr>
          <a:xfrm flipV="true">
            <a:off x="11449876" y="6229350"/>
            <a:ext cx="742123" cy="622300"/>
          </a:xfrm>
          <a:custGeom>
            <a:avLst/>
            <a:gdLst>
              <a:gd name="connsiteX0" fmla="*/ 11665 w 2235200"/>
              <a:gd name="connsiteY0" fmla="*/ 0 h 1874304"/>
              <a:gd name="connsiteX1" fmla="*/ 2235200 w 2235200"/>
              <a:gd name="connsiteY1" fmla="*/ 0 h 1874304"/>
              <a:gd name="connsiteX2" fmla="*/ 2235200 w 2235200"/>
              <a:gd name="connsiteY2" fmla="*/ 1779600 h 1874304"/>
              <a:gd name="connsiteX3" fmla="*/ 2183148 w 2235200"/>
              <a:gd name="connsiteY3" fmla="*/ 1798651 h 1874304"/>
              <a:gd name="connsiteX4" fmla="*/ 1682750 w 2235200"/>
              <a:gd name="connsiteY4" fmla="*/ 1874304 h 1874304"/>
              <a:gd name="connsiteX5" fmla="*/ 0 w 2235200"/>
              <a:gd name="connsiteY5" fmla="*/ 191554 h 1874304"/>
              <a:gd name="connsiteX6" fmla="*/ 8688 w 2235200"/>
              <a:gd name="connsiteY6" fmla="*/ 19503 h 1874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35200" h="1874304">
                <a:moveTo>
                  <a:pt x="11665" y="0"/>
                </a:moveTo>
                <a:lnTo>
                  <a:pt x="2235200" y="0"/>
                </a:lnTo>
                <a:lnTo>
                  <a:pt x="2235200" y="1779600"/>
                </a:lnTo>
                <a:lnTo>
                  <a:pt x="2183148" y="1798651"/>
                </a:lnTo>
                <a:cubicBezTo>
                  <a:pt x="2025073" y="1847818"/>
                  <a:pt x="1857004" y="1874304"/>
                  <a:pt x="1682750" y="1874304"/>
                </a:cubicBezTo>
                <a:cubicBezTo>
                  <a:pt x="753393" y="1874304"/>
                  <a:pt x="0" y="1120911"/>
                  <a:pt x="0" y="191554"/>
                </a:cubicBezTo>
                <a:cubicBezTo>
                  <a:pt x="0" y="133470"/>
                  <a:pt x="2943" y="76072"/>
                  <a:pt x="8688" y="19503"/>
                </a:cubicBezTo>
                <a:close/>
              </a:path>
            </a:pathLst>
          </a:custGeom>
          <a:solidFill>
            <a:srgbClr val="981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false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文本框 9"/>
          <p:cNvSpPr txBox="true"/>
          <p:nvPr/>
        </p:nvSpPr>
        <p:spPr>
          <a:xfrm>
            <a:off x="762000" y="178227"/>
            <a:ext cx="3804684" cy="646331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/>
            <a:r>
              <a:rPr lang="zh-CN" altLang="en-US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业务流程</a:t>
            </a:r>
            <a:r>
              <a:rPr lang="en-US" altLang="zh-CN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-</a:t>
            </a:r>
            <a:r>
              <a:rPr lang="zh-CN" altLang="en-US" sz="3600" dirty="false">
                <a:latin typeface="联想小新潮酷体" panose="02010604000000000000" pitchFamily="2" charset="-122"/>
                <a:ea typeface="联想小新潮酷体" panose="02010604000000000000" pitchFamily="2" charset="-122"/>
              </a:rPr>
              <a:t>舒心贷</a:t>
            </a:r>
            <a:endParaRPr lang="zh-CN" altLang="en-US" sz="3600" dirty="false">
              <a:latin typeface="联想小新潮酷体" panose="02010604000000000000" pitchFamily="2" charset="-122"/>
              <a:ea typeface="联想小新潮酷体" panose="02010604000000000000" pitchFamily="2" charset="-122"/>
            </a:endParaRPr>
          </a:p>
        </p:txBody>
      </p:sp>
      <p:sp>
        <p:nvSpPr>
          <p:cNvPr id="61" name="iṡļíḍe"/>
          <p:cNvSpPr/>
          <p:nvPr/>
        </p:nvSpPr>
        <p:spPr>
          <a:xfrm>
            <a:off x="963071" y="2051595"/>
            <a:ext cx="647053" cy="1903715"/>
          </a:xfrm>
          <a:prstGeom prst="roundRect">
            <a:avLst>
              <a:gd name="adj" fmla="val 13693"/>
            </a:avLst>
          </a:prstGeom>
          <a:solidFill>
            <a:srgbClr val="C00000"/>
          </a:solidFill>
          <a:ln>
            <a:noFill/>
          </a:ln>
          <a:effectLst>
            <a:outerShdw blurRad="508000" dist="279400" dir="8100000" algn="tr" rotWithShape="false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r>
              <a:rPr lang="zh-CN" altLang="en-US" b="true" dirty="false">
                <a:sym typeface="+mn-lt"/>
              </a:rPr>
              <a:t>借款申请</a:t>
            </a:r>
            <a:endParaRPr lang="zh-CN" altLang="en-US" b="true" dirty="false">
              <a:sym typeface="+mn-lt"/>
            </a:endParaRPr>
          </a:p>
        </p:txBody>
      </p:sp>
      <p:pic>
        <p:nvPicPr>
          <p:cNvPr id="62" name="图片 8"/>
          <p:cNvPicPr/>
          <p:nvPr/>
        </p:nvPicPr>
        <p:blipFill>
          <a:blip r:embed="rId1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832492" y="1414463"/>
            <a:ext cx="16637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图片 10"/>
          <p:cNvPicPr/>
          <p:nvPr/>
        </p:nvPicPr>
        <p:blipFill>
          <a:blip r:embed="rId2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3496192" y="1414463"/>
            <a:ext cx="16573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图片 15"/>
          <p:cNvPicPr/>
          <p:nvPr/>
        </p:nvPicPr>
        <p:blipFill>
          <a:blip r:embed="rId3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5159892" y="1414463"/>
            <a:ext cx="16637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图片 17"/>
          <p:cNvPicPr/>
          <p:nvPr/>
        </p:nvPicPr>
        <p:blipFill>
          <a:blip r:embed="rId4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6829942" y="1414463"/>
            <a:ext cx="16637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图片 19"/>
          <p:cNvPicPr/>
          <p:nvPr/>
        </p:nvPicPr>
        <p:blipFill>
          <a:blip r:embed="rId5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8499992" y="1414463"/>
            <a:ext cx="1663700" cy="36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图片 20"/>
          <p:cNvPicPr/>
          <p:nvPr/>
        </p:nvPicPr>
        <p:blipFill>
          <a:blip r:embed="rId6" cstate="screen">
            <a:extLst>
              <a:ext uri="{28A0092B-C50C-407E-A947-70E740481C1C}"/>
            </a:extLst>
          </a:blip>
          <a:srcRect/>
          <a:stretch>
            <a:fillRect/>
          </a:stretch>
        </p:blipFill>
        <p:spPr bwMode="auto">
          <a:xfrm>
            <a:off x="10182742" y="1427163"/>
            <a:ext cx="1657350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Requires="p14">
      <p:transition spd="med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思源黑体 CN Bold"/>
        <a:ea typeface="思源黑体 CN Bold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2025-12-05T16:48:21Z</dcterms:created>
  <dcterms:modified xsi:type="dcterms:W3CDTF">2025-12-05T16:48:21Z</dcterms:modified>
</cp:coreProperties>
</file>